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>
        <p:scale>
          <a:sx n="43" d="100"/>
          <a:sy n="43" d="100"/>
        </p:scale>
        <p:origin x="149" y="8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D4AF57-3ECD-465E-8A15-6C48CE401BF0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B9D8739-27E3-49EB-8795-253562589E22}">
      <dgm:prSet/>
      <dgm:spPr/>
      <dgm:t>
        <a:bodyPr/>
        <a:lstStyle/>
        <a:p>
          <a:r>
            <a:rPr lang="en-IN" b="1"/>
            <a:t>Primary Call Driver:</a:t>
          </a:r>
          <a:r>
            <a:rPr lang="en-IN"/>
            <a:t> Billing Questions account for ~70% of total volume (23K+ calls). </a:t>
          </a:r>
          <a:endParaRPr lang="en-US"/>
        </a:p>
      </dgm:t>
    </dgm:pt>
    <dgm:pt modelId="{AD7583C1-F6FF-4F0E-BADC-469D03F4F1D8}" type="parTrans" cxnId="{8C5ED711-F5BA-4866-8331-F73E211E1528}">
      <dgm:prSet/>
      <dgm:spPr/>
      <dgm:t>
        <a:bodyPr/>
        <a:lstStyle/>
        <a:p>
          <a:endParaRPr lang="en-US"/>
        </a:p>
      </dgm:t>
    </dgm:pt>
    <dgm:pt modelId="{C8E24D11-8158-4D5F-8C7A-3CED848894EB}" type="sibTrans" cxnId="{8C5ED711-F5BA-4866-8331-F73E211E1528}">
      <dgm:prSet/>
      <dgm:spPr/>
      <dgm:t>
        <a:bodyPr/>
        <a:lstStyle/>
        <a:p>
          <a:endParaRPr lang="en-US"/>
        </a:p>
      </dgm:t>
    </dgm:pt>
    <dgm:pt modelId="{2C8A85CC-7EF2-4100-AD9F-7A8DE71876B5}">
      <dgm:prSet/>
      <dgm:spPr/>
      <dgm:t>
        <a:bodyPr/>
        <a:lstStyle/>
        <a:p>
          <a:r>
            <a:rPr lang="en-IN" b="1"/>
            <a:t>SLA Compliance:</a:t>
          </a:r>
          <a:r>
            <a:rPr lang="en-IN"/>
            <a:t> 20.6K calls resolved Within SLA, while 4.2K calls breached threshold (Above SLA). </a:t>
          </a:r>
          <a:endParaRPr lang="en-US"/>
        </a:p>
      </dgm:t>
    </dgm:pt>
    <dgm:pt modelId="{233179C8-CA60-4672-A78D-7997C130847B}" type="parTrans" cxnId="{AFAB8E12-4DE8-4422-8501-DAEB12FD9EBA}">
      <dgm:prSet/>
      <dgm:spPr/>
      <dgm:t>
        <a:bodyPr/>
        <a:lstStyle/>
        <a:p>
          <a:endParaRPr lang="en-US"/>
        </a:p>
      </dgm:t>
    </dgm:pt>
    <dgm:pt modelId="{393ADA6C-1891-4F00-8CE4-204C92001D08}" type="sibTrans" cxnId="{AFAB8E12-4DE8-4422-8501-DAEB12FD9EBA}">
      <dgm:prSet/>
      <dgm:spPr/>
      <dgm:t>
        <a:bodyPr/>
        <a:lstStyle/>
        <a:p>
          <a:endParaRPr lang="en-US"/>
        </a:p>
      </dgm:t>
    </dgm:pt>
    <dgm:pt modelId="{B02300F3-7A53-4D77-9F8C-6A34F161DDFE}">
      <dgm:prSet/>
      <dgm:spPr/>
      <dgm:t>
        <a:bodyPr/>
        <a:lstStyle/>
        <a:p>
          <a:r>
            <a:rPr lang="en-IN" b="1"/>
            <a:t>Channel Distribution:</a:t>
          </a:r>
          <a:r>
            <a:rPr lang="en-IN"/>
            <a:t> Call Center handles maximum volume (10.64K calls), followed by Chatbot and Email. </a:t>
          </a:r>
          <a:endParaRPr lang="en-US"/>
        </a:p>
      </dgm:t>
    </dgm:pt>
    <dgm:pt modelId="{DD750008-1062-4B39-B90F-9103E0D6F21A}" type="parTrans" cxnId="{94416C1A-8F51-407D-A892-F97941D5A470}">
      <dgm:prSet/>
      <dgm:spPr/>
      <dgm:t>
        <a:bodyPr/>
        <a:lstStyle/>
        <a:p>
          <a:endParaRPr lang="en-US"/>
        </a:p>
      </dgm:t>
    </dgm:pt>
    <dgm:pt modelId="{5093962D-8D57-4C7B-8C27-0D262FE0DF8E}" type="sibTrans" cxnId="{94416C1A-8F51-407D-A892-F97941D5A470}">
      <dgm:prSet/>
      <dgm:spPr/>
      <dgm:t>
        <a:bodyPr/>
        <a:lstStyle/>
        <a:p>
          <a:endParaRPr lang="en-US"/>
        </a:p>
      </dgm:t>
    </dgm:pt>
    <dgm:pt modelId="{08E98ACF-BF3F-4FEA-8B57-9A7DC92D1CC9}">
      <dgm:prSet/>
      <dgm:spPr/>
      <dgm:t>
        <a:bodyPr/>
        <a:lstStyle/>
        <a:p>
          <a:r>
            <a:rPr lang="en-IN" b="1"/>
            <a:t>Geographic Distribution:</a:t>
          </a:r>
          <a:r>
            <a:rPr lang="en-IN"/>
            <a:t> Inquiries spread across 51 US states, led by California. </a:t>
          </a:r>
          <a:endParaRPr lang="en-US"/>
        </a:p>
      </dgm:t>
    </dgm:pt>
    <dgm:pt modelId="{8FC137E7-3BD9-4563-8E3E-DDE57411D53A}" type="parTrans" cxnId="{9538075D-975E-4D7D-BE16-9FD433E230A2}">
      <dgm:prSet/>
      <dgm:spPr/>
      <dgm:t>
        <a:bodyPr/>
        <a:lstStyle/>
        <a:p>
          <a:endParaRPr lang="en-US"/>
        </a:p>
      </dgm:t>
    </dgm:pt>
    <dgm:pt modelId="{111A49A9-AFC5-4601-8ED3-F92035D0EB9C}" type="sibTrans" cxnId="{9538075D-975E-4D7D-BE16-9FD433E230A2}">
      <dgm:prSet/>
      <dgm:spPr/>
      <dgm:t>
        <a:bodyPr/>
        <a:lstStyle/>
        <a:p>
          <a:endParaRPr lang="en-US"/>
        </a:p>
      </dgm:t>
    </dgm:pt>
    <dgm:pt modelId="{46B79F2F-4B11-41B2-9A94-BD0EF92010FA}" type="pres">
      <dgm:prSet presAssocID="{72D4AF57-3ECD-465E-8A15-6C48CE401BF0}" presName="matrix" presStyleCnt="0">
        <dgm:presLayoutVars>
          <dgm:chMax val="1"/>
          <dgm:dir/>
          <dgm:resizeHandles val="exact"/>
        </dgm:presLayoutVars>
      </dgm:prSet>
      <dgm:spPr/>
    </dgm:pt>
    <dgm:pt modelId="{21D9ADBB-36BD-4307-8B73-AFEE5CD0A374}" type="pres">
      <dgm:prSet presAssocID="{72D4AF57-3ECD-465E-8A15-6C48CE401BF0}" presName="diamond" presStyleLbl="bgShp" presStyleIdx="0" presStyleCnt="1"/>
      <dgm:spPr/>
    </dgm:pt>
    <dgm:pt modelId="{911E182F-4650-4BF7-9FF4-431963A9080A}" type="pres">
      <dgm:prSet presAssocID="{72D4AF57-3ECD-465E-8A15-6C48CE401BF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912CBB3-3C63-41B6-BE85-B4B46F7135A7}" type="pres">
      <dgm:prSet presAssocID="{72D4AF57-3ECD-465E-8A15-6C48CE401BF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92C70B1-5CD3-4556-A919-A803C7D7B95B}" type="pres">
      <dgm:prSet presAssocID="{72D4AF57-3ECD-465E-8A15-6C48CE401BF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6BFEDB7-E769-4854-BBD8-2F176998C38D}" type="pres">
      <dgm:prSet presAssocID="{72D4AF57-3ECD-465E-8A15-6C48CE401BF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C5ED711-F5BA-4866-8331-F73E211E1528}" srcId="{72D4AF57-3ECD-465E-8A15-6C48CE401BF0}" destId="{EB9D8739-27E3-49EB-8795-253562589E22}" srcOrd="0" destOrd="0" parTransId="{AD7583C1-F6FF-4F0E-BADC-469D03F4F1D8}" sibTransId="{C8E24D11-8158-4D5F-8C7A-3CED848894EB}"/>
    <dgm:cxn modelId="{AFAB8E12-4DE8-4422-8501-DAEB12FD9EBA}" srcId="{72D4AF57-3ECD-465E-8A15-6C48CE401BF0}" destId="{2C8A85CC-7EF2-4100-AD9F-7A8DE71876B5}" srcOrd="1" destOrd="0" parTransId="{233179C8-CA60-4672-A78D-7997C130847B}" sibTransId="{393ADA6C-1891-4F00-8CE4-204C92001D08}"/>
    <dgm:cxn modelId="{94416C1A-8F51-407D-A892-F97941D5A470}" srcId="{72D4AF57-3ECD-465E-8A15-6C48CE401BF0}" destId="{B02300F3-7A53-4D77-9F8C-6A34F161DDFE}" srcOrd="2" destOrd="0" parTransId="{DD750008-1062-4B39-B90F-9103E0D6F21A}" sibTransId="{5093962D-8D57-4C7B-8C27-0D262FE0DF8E}"/>
    <dgm:cxn modelId="{F1035E28-A00B-4CEF-A9AC-D1D56716FD85}" type="presOf" srcId="{72D4AF57-3ECD-465E-8A15-6C48CE401BF0}" destId="{46B79F2F-4B11-41B2-9A94-BD0EF92010FA}" srcOrd="0" destOrd="0" presId="urn:microsoft.com/office/officeart/2005/8/layout/matrix3"/>
    <dgm:cxn modelId="{ED007D29-E382-42AF-883E-A3DD4F8F8FAD}" type="presOf" srcId="{08E98ACF-BF3F-4FEA-8B57-9A7DC92D1CC9}" destId="{16BFEDB7-E769-4854-BBD8-2F176998C38D}" srcOrd="0" destOrd="0" presId="urn:microsoft.com/office/officeart/2005/8/layout/matrix3"/>
    <dgm:cxn modelId="{8E3E3A37-27DA-44BF-B804-CBECD1D46416}" type="presOf" srcId="{B02300F3-7A53-4D77-9F8C-6A34F161DDFE}" destId="{292C70B1-5CD3-4556-A919-A803C7D7B95B}" srcOrd="0" destOrd="0" presId="urn:microsoft.com/office/officeart/2005/8/layout/matrix3"/>
    <dgm:cxn modelId="{9538075D-975E-4D7D-BE16-9FD433E230A2}" srcId="{72D4AF57-3ECD-465E-8A15-6C48CE401BF0}" destId="{08E98ACF-BF3F-4FEA-8B57-9A7DC92D1CC9}" srcOrd="3" destOrd="0" parTransId="{8FC137E7-3BD9-4563-8E3E-DDE57411D53A}" sibTransId="{111A49A9-AFC5-4601-8ED3-F92035D0EB9C}"/>
    <dgm:cxn modelId="{CC31DC44-6025-46E8-AD67-46150AA14B5A}" type="presOf" srcId="{EB9D8739-27E3-49EB-8795-253562589E22}" destId="{911E182F-4650-4BF7-9FF4-431963A9080A}" srcOrd="0" destOrd="0" presId="urn:microsoft.com/office/officeart/2005/8/layout/matrix3"/>
    <dgm:cxn modelId="{9A76FD4C-5BBE-4C62-A90C-3330D5F8F619}" type="presOf" srcId="{2C8A85CC-7EF2-4100-AD9F-7A8DE71876B5}" destId="{2912CBB3-3C63-41B6-BE85-B4B46F7135A7}" srcOrd="0" destOrd="0" presId="urn:microsoft.com/office/officeart/2005/8/layout/matrix3"/>
    <dgm:cxn modelId="{D020FD79-F9B9-4765-A54F-2F3440C6FE8D}" type="presParOf" srcId="{46B79F2F-4B11-41B2-9A94-BD0EF92010FA}" destId="{21D9ADBB-36BD-4307-8B73-AFEE5CD0A374}" srcOrd="0" destOrd="0" presId="urn:microsoft.com/office/officeart/2005/8/layout/matrix3"/>
    <dgm:cxn modelId="{F1F4495A-5E67-446B-AB37-187B15DF67FC}" type="presParOf" srcId="{46B79F2F-4B11-41B2-9A94-BD0EF92010FA}" destId="{911E182F-4650-4BF7-9FF4-431963A9080A}" srcOrd="1" destOrd="0" presId="urn:microsoft.com/office/officeart/2005/8/layout/matrix3"/>
    <dgm:cxn modelId="{299CAE3E-5D37-4D4F-963C-97CE902AF5AE}" type="presParOf" srcId="{46B79F2F-4B11-41B2-9A94-BD0EF92010FA}" destId="{2912CBB3-3C63-41B6-BE85-B4B46F7135A7}" srcOrd="2" destOrd="0" presId="urn:microsoft.com/office/officeart/2005/8/layout/matrix3"/>
    <dgm:cxn modelId="{62983FB9-8B5D-4E6E-94BD-48BC1B2A2306}" type="presParOf" srcId="{46B79F2F-4B11-41B2-9A94-BD0EF92010FA}" destId="{292C70B1-5CD3-4556-A919-A803C7D7B95B}" srcOrd="3" destOrd="0" presId="urn:microsoft.com/office/officeart/2005/8/layout/matrix3"/>
    <dgm:cxn modelId="{EB90C1EA-04CF-4B39-93B6-AE9AEDAE6CC0}" type="presParOf" srcId="{46B79F2F-4B11-41B2-9A94-BD0EF92010FA}" destId="{16BFEDB7-E769-4854-BBD8-2F176998C38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19DFF5-1C35-4376-9C9C-9DCABD228CF0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DE2F7AD-C26D-4EA8-9CC3-ECB5F19A64E5}">
      <dgm:prSet/>
      <dgm:spPr/>
      <dgm:t>
        <a:bodyPr/>
        <a:lstStyle/>
        <a:p>
          <a:r>
            <a:rPr lang="en-US"/>
            <a:t>Automate</a:t>
          </a:r>
        </a:p>
      </dgm:t>
    </dgm:pt>
    <dgm:pt modelId="{AE87DC5E-49E6-4FA9-9F4C-E0F570610D76}" type="parTrans" cxnId="{9A1ABD89-92CD-42F5-88A6-1EE28C6DC329}">
      <dgm:prSet/>
      <dgm:spPr/>
      <dgm:t>
        <a:bodyPr/>
        <a:lstStyle/>
        <a:p>
          <a:endParaRPr lang="en-US"/>
        </a:p>
      </dgm:t>
    </dgm:pt>
    <dgm:pt modelId="{49A3FB21-BFB3-4E13-BB5D-8D6A60F64947}" type="sibTrans" cxnId="{9A1ABD89-92CD-42F5-88A6-1EE28C6DC329}">
      <dgm:prSet/>
      <dgm:spPr/>
      <dgm:t>
        <a:bodyPr/>
        <a:lstStyle/>
        <a:p>
          <a:endParaRPr lang="en-US"/>
        </a:p>
      </dgm:t>
    </dgm:pt>
    <dgm:pt modelId="{CD374D40-95CF-4BA3-839D-6FF86054C093}">
      <dgm:prSet/>
      <dgm:spPr/>
      <dgm:t>
        <a:bodyPr/>
        <a:lstStyle/>
        <a:p>
          <a:r>
            <a:rPr lang="en-US"/>
            <a:t>Automate Billing FAQs: Implement self-service features in Chatbot to handle simple billing queries and reduce agent workload.</a:t>
          </a:r>
        </a:p>
      </dgm:t>
    </dgm:pt>
    <dgm:pt modelId="{4D715EA6-3658-4180-8680-445E6699DB9B}" type="parTrans" cxnId="{75C60A84-0013-4C77-A3A9-66ED3241BC34}">
      <dgm:prSet/>
      <dgm:spPr/>
      <dgm:t>
        <a:bodyPr/>
        <a:lstStyle/>
        <a:p>
          <a:endParaRPr lang="en-US"/>
        </a:p>
      </dgm:t>
    </dgm:pt>
    <dgm:pt modelId="{504768E2-C55C-4C57-B6A7-FEFD464D8BDE}" type="sibTrans" cxnId="{75C60A84-0013-4C77-A3A9-66ED3241BC34}">
      <dgm:prSet/>
      <dgm:spPr/>
      <dgm:t>
        <a:bodyPr/>
        <a:lstStyle/>
        <a:p>
          <a:endParaRPr lang="en-US"/>
        </a:p>
      </dgm:t>
    </dgm:pt>
    <dgm:pt modelId="{1D34A653-A6BF-4059-BA44-7D328131ABF7}">
      <dgm:prSet/>
      <dgm:spPr/>
      <dgm:t>
        <a:bodyPr/>
        <a:lstStyle/>
        <a:p>
          <a:r>
            <a:rPr lang="en-US"/>
            <a:t>Allocate</a:t>
          </a:r>
        </a:p>
      </dgm:t>
    </dgm:pt>
    <dgm:pt modelId="{DC96CFD5-821D-4525-B3D5-0EDFAB6E2A56}" type="parTrans" cxnId="{36404B09-C8DF-4C51-8FE3-145EF778B38C}">
      <dgm:prSet/>
      <dgm:spPr/>
      <dgm:t>
        <a:bodyPr/>
        <a:lstStyle/>
        <a:p>
          <a:endParaRPr lang="en-US"/>
        </a:p>
      </dgm:t>
    </dgm:pt>
    <dgm:pt modelId="{B5699503-FB0A-4E8F-80A2-F68559A7A383}" type="sibTrans" cxnId="{36404B09-C8DF-4C51-8FE3-145EF778B38C}">
      <dgm:prSet/>
      <dgm:spPr/>
      <dgm:t>
        <a:bodyPr/>
        <a:lstStyle/>
        <a:p>
          <a:endParaRPr lang="en-US"/>
        </a:p>
      </dgm:t>
    </dgm:pt>
    <dgm:pt modelId="{09AF864C-6FCD-42CE-8FE3-8F1F568299B4}">
      <dgm:prSet/>
      <dgm:spPr/>
      <dgm:t>
        <a:bodyPr/>
        <a:lstStyle/>
        <a:p>
          <a:r>
            <a:rPr lang="en-US"/>
            <a:t>SLA Improvement: Allocate additional resources during peak call hours to minimize SLA breaches.</a:t>
          </a:r>
        </a:p>
      </dgm:t>
    </dgm:pt>
    <dgm:pt modelId="{2F074C63-44BF-42D7-A1D7-329CD486184A}" type="parTrans" cxnId="{F6BA457B-5691-45E7-B6DC-7E767DA67CED}">
      <dgm:prSet/>
      <dgm:spPr/>
      <dgm:t>
        <a:bodyPr/>
        <a:lstStyle/>
        <a:p>
          <a:endParaRPr lang="en-US"/>
        </a:p>
      </dgm:t>
    </dgm:pt>
    <dgm:pt modelId="{B9FF9E62-B950-4149-8FA2-B86AE200E0A2}" type="sibTrans" cxnId="{F6BA457B-5691-45E7-B6DC-7E767DA67CED}">
      <dgm:prSet/>
      <dgm:spPr/>
      <dgm:t>
        <a:bodyPr/>
        <a:lstStyle/>
        <a:p>
          <a:endParaRPr lang="en-US"/>
        </a:p>
      </dgm:t>
    </dgm:pt>
    <dgm:pt modelId="{5598C104-FFB3-4133-B214-39CDDB179B4A}">
      <dgm:prSet/>
      <dgm:spPr/>
      <dgm:t>
        <a:bodyPr/>
        <a:lstStyle/>
        <a:p>
          <a:r>
            <a:rPr lang="en-US"/>
            <a:t>Channel</a:t>
          </a:r>
        </a:p>
      </dgm:t>
    </dgm:pt>
    <dgm:pt modelId="{5E7E0630-4BAF-4311-85F9-0B27077C9862}" type="parTrans" cxnId="{0E4B5902-81F8-4585-B588-52118492A226}">
      <dgm:prSet/>
      <dgm:spPr/>
      <dgm:t>
        <a:bodyPr/>
        <a:lstStyle/>
        <a:p>
          <a:endParaRPr lang="en-US"/>
        </a:p>
      </dgm:t>
    </dgm:pt>
    <dgm:pt modelId="{7CF010AE-4270-45D9-8C84-AFF0847D78A1}" type="sibTrans" cxnId="{0E4B5902-81F8-4585-B588-52118492A226}">
      <dgm:prSet/>
      <dgm:spPr/>
      <dgm:t>
        <a:bodyPr/>
        <a:lstStyle/>
        <a:p>
          <a:endParaRPr lang="en-US"/>
        </a:p>
      </dgm:t>
    </dgm:pt>
    <dgm:pt modelId="{8BF260F7-1293-437E-921E-AC99AB4B8921}">
      <dgm:prSet/>
      <dgm:spPr/>
      <dgm:t>
        <a:bodyPr/>
        <a:lstStyle/>
        <a:p>
          <a:r>
            <a:rPr lang="en-US"/>
            <a:t>Channel Optimization: Encourage customers toward Chatbot and Web channels for faster issue resolution.</a:t>
          </a:r>
        </a:p>
      </dgm:t>
    </dgm:pt>
    <dgm:pt modelId="{3F19E75E-FD51-4B30-8BC1-38D93E47E203}" type="parTrans" cxnId="{1A4B7BD5-6489-45EC-A272-0B2D48702E52}">
      <dgm:prSet/>
      <dgm:spPr/>
      <dgm:t>
        <a:bodyPr/>
        <a:lstStyle/>
        <a:p>
          <a:endParaRPr lang="en-US"/>
        </a:p>
      </dgm:t>
    </dgm:pt>
    <dgm:pt modelId="{906F7B27-41C8-42A9-B2B6-3B80DF4ACBBF}" type="sibTrans" cxnId="{1A4B7BD5-6489-45EC-A272-0B2D48702E52}">
      <dgm:prSet/>
      <dgm:spPr/>
      <dgm:t>
        <a:bodyPr/>
        <a:lstStyle/>
        <a:p>
          <a:endParaRPr lang="en-US"/>
        </a:p>
      </dgm:t>
    </dgm:pt>
    <dgm:pt modelId="{E443650E-760F-4FC2-B972-4C48FF217DD9}" type="pres">
      <dgm:prSet presAssocID="{9219DFF5-1C35-4376-9C9C-9DCABD228CF0}" presName="Name0" presStyleCnt="0">
        <dgm:presLayoutVars>
          <dgm:dir/>
          <dgm:animLvl val="lvl"/>
          <dgm:resizeHandles val="exact"/>
        </dgm:presLayoutVars>
      </dgm:prSet>
      <dgm:spPr/>
    </dgm:pt>
    <dgm:pt modelId="{E60C9698-6358-4922-B687-929B2F6A0894}" type="pres">
      <dgm:prSet presAssocID="{1DE2F7AD-C26D-4EA8-9CC3-ECB5F19A64E5}" presName="linNode" presStyleCnt="0"/>
      <dgm:spPr/>
    </dgm:pt>
    <dgm:pt modelId="{7B705BAB-0384-455C-98C4-BE234B099092}" type="pres">
      <dgm:prSet presAssocID="{1DE2F7AD-C26D-4EA8-9CC3-ECB5F19A64E5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872C3B34-0867-4010-A6D0-5CA49C0CA2FC}" type="pres">
      <dgm:prSet presAssocID="{1DE2F7AD-C26D-4EA8-9CC3-ECB5F19A64E5}" presName="descendantText" presStyleLbl="alignAccFollowNode1" presStyleIdx="0" presStyleCnt="3">
        <dgm:presLayoutVars>
          <dgm:bulletEnabled/>
        </dgm:presLayoutVars>
      </dgm:prSet>
      <dgm:spPr/>
    </dgm:pt>
    <dgm:pt modelId="{338EFC18-C125-4F36-A311-FDB07394A679}" type="pres">
      <dgm:prSet presAssocID="{49A3FB21-BFB3-4E13-BB5D-8D6A60F64947}" presName="sp" presStyleCnt="0"/>
      <dgm:spPr/>
    </dgm:pt>
    <dgm:pt modelId="{D937A5DF-6C6D-4FC2-ACDF-266D21989877}" type="pres">
      <dgm:prSet presAssocID="{1D34A653-A6BF-4059-BA44-7D328131ABF7}" presName="linNode" presStyleCnt="0"/>
      <dgm:spPr/>
    </dgm:pt>
    <dgm:pt modelId="{166A0D3A-D1BA-468B-82D4-8C60AC4B7F8E}" type="pres">
      <dgm:prSet presAssocID="{1D34A653-A6BF-4059-BA44-7D328131ABF7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0A13DF15-BC7D-4B09-8052-CA94B397C079}" type="pres">
      <dgm:prSet presAssocID="{1D34A653-A6BF-4059-BA44-7D328131ABF7}" presName="descendantText" presStyleLbl="alignAccFollowNode1" presStyleIdx="1" presStyleCnt="3">
        <dgm:presLayoutVars>
          <dgm:bulletEnabled/>
        </dgm:presLayoutVars>
      </dgm:prSet>
      <dgm:spPr/>
    </dgm:pt>
    <dgm:pt modelId="{16E0CCCA-C426-419B-9359-007C0D6F9A5C}" type="pres">
      <dgm:prSet presAssocID="{B5699503-FB0A-4E8F-80A2-F68559A7A383}" presName="sp" presStyleCnt="0"/>
      <dgm:spPr/>
    </dgm:pt>
    <dgm:pt modelId="{11C1EDD7-7424-41A5-A68F-69697AB64C16}" type="pres">
      <dgm:prSet presAssocID="{5598C104-FFB3-4133-B214-39CDDB179B4A}" presName="linNode" presStyleCnt="0"/>
      <dgm:spPr/>
    </dgm:pt>
    <dgm:pt modelId="{FB1DC409-FDC5-43AD-B063-265474ED9798}" type="pres">
      <dgm:prSet presAssocID="{5598C104-FFB3-4133-B214-39CDDB179B4A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28221D8D-5C06-4920-8B31-D4C70A82C7E9}" type="pres">
      <dgm:prSet presAssocID="{5598C104-FFB3-4133-B214-39CDDB179B4A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0E4B5902-81F8-4585-B588-52118492A226}" srcId="{9219DFF5-1C35-4376-9C9C-9DCABD228CF0}" destId="{5598C104-FFB3-4133-B214-39CDDB179B4A}" srcOrd="2" destOrd="0" parTransId="{5E7E0630-4BAF-4311-85F9-0B27077C9862}" sibTransId="{7CF010AE-4270-45D9-8C84-AFF0847D78A1}"/>
    <dgm:cxn modelId="{36404B09-C8DF-4C51-8FE3-145EF778B38C}" srcId="{9219DFF5-1C35-4376-9C9C-9DCABD228CF0}" destId="{1D34A653-A6BF-4059-BA44-7D328131ABF7}" srcOrd="1" destOrd="0" parTransId="{DC96CFD5-821D-4525-B3D5-0EDFAB6E2A56}" sibTransId="{B5699503-FB0A-4E8F-80A2-F68559A7A383}"/>
    <dgm:cxn modelId="{3CC2FB25-46F4-452E-A6CA-2ACD42AA6CE7}" type="presOf" srcId="{1DE2F7AD-C26D-4EA8-9CC3-ECB5F19A64E5}" destId="{7B705BAB-0384-455C-98C4-BE234B099092}" srcOrd="0" destOrd="0" presId="urn:microsoft.com/office/officeart/2016/7/layout/VerticalSolidActionList"/>
    <dgm:cxn modelId="{7DFDD72B-077E-4F91-95EA-45114D5D2767}" type="presOf" srcId="{8BF260F7-1293-437E-921E-AC99AB4B8921}" destId="{28221D8D-5C06-4920-8B31-D4C70A82C7E9}" srcOrd="0" destOrd="0" presId="urn:microsoft.com/office/officeart/2016/7/layout/VerticalSolidActionList"/>
    <dgm:cxn modelId="{C8596838-DA88-48A8-BF00-9012B106A645}" type="presOf" srcId="{9219DFF5-1C35-4376-9C9C-9DCABD228CF0}" destId="{E443650E-760F-4FC2-B972-4C48FF217DD9}" srcOrd="0" destOrd="0" presId="urn:microsoft.com/office/officeart/2016/7/layout/VerticalSolidActionList"/>
    <dgm:cxn modelId="{341A384B-E172-4941-BD1B-FA907C8BE3EF}" type="presOf" srcId="{CD374D40-95CF-4BA3-839D-6FF86054C093}" destId="{872C3B34-0867-4010-A6D0-5CA49C0CA2FC}" srcOrd="0" destOrd="0" presId="urn:microsoft.com/office/officeart/2016/7/layout/VerticalSolidActionList"/>
    <dgm:cxn modelId="{F6BA457B-5691-45E7-B6DC-7E767DA67CED}" srcId="{1D34A653-A6BF-4059-BA44-7D328131ABF7}" destId="{09AF864C-6FCD-42CE-8FE3-8F1F568299B4}" srcOrd="0" destOrd="0" parTransId="{2F074C63-44BF-42D7-A1D7-329CD486184A}" sibTransId="{B9FF9E62-B950-4149-8FA2-B86AE200E0A2}"/>
    <dgm:cxn modelId="{75C60A84-0013-4C77-A3A9-66ED3241BC34}" srcId="{1DE2F7AD-C26D-4EA8-9CC3-ECB5F19A64E5}" destId="{CD374D40-95CF-4BA3-839D-6FF86054C093}" srcOrd="0" destOrd="0" parTransId="{4D715EA6-3658-4180-8680-445E6699DB9B}" sibTransId="{504768E2-C55C-4C57-B6A7-FEFD464D8BDE}"/>
    <dgm:cxn modelId="{9A1ABD89-92CD-42F5-88A6-1EE28C6DC329}" srcId="{9219DFF5-1C35-4376-9C9C-9DCABD228CF0}" destId="{1DE2F7AD-C26D-4EA8-9CC3-ECB5F19A64E5}" srcOrd="0" destOrd="0" parTransId="{AE87DC5E-49E6-4FA9-9F4C-E0F570610D76}" sibTransId="{49A3FB21-BFB3-4E13-BB5D-8D6A60F64947}"/>
    <dgm:cxn modelId="{1A4B7BD5-6489-45EC-A272-0B2D48702E52}" srcId="{5598C104-FFB3-4133-B214-39CDDB179B4A}" destId="{8BF260F7-1293-437E-921E-AC99AB4B8921}" srcOrd="0" destOrd="0" parTransId="{3F19E75E-FD51-4B30-8BC1-38D93E47E203}" sibTransId="{906F7B27-41C8-42A9-B2B6-3B80DF4ACBBF}"/>
    <dgm:cxn modelId="{236BCED5-F681-4885-AD93-7B215F22926A}" type="presOf" srcId="{5598C104-FFB3-4133-B214-39CDDB179B4A}" destId="{FB1DC409-FDC5-43AD-B063-265474ED9798}" srcOrd="0" destOrd="0" presId="urn:microsoft.com/office/officeart/2016/7/layout/VerticalSolidActionList"/>
    <dgm:cxn modelId="{7BD586D6-159C-41DA-86BC-C0CC0D5E4524}" type="presOf" srcId="{1D34A653-A6BF-4059-BA44-7D328131ABF7}" destId="{166A0D3A-D1BA-468B-82D4-8C60AC4B7F8E}" srcOrd="0" destOrd="0" presId="urn:microsoft.com/office/officeart/2016/7/layout/VerticalSolidActionList"/>
    <dgm:cxn modelId="{A2A820E1-1162-4777-98F0-7D2C7E409BE2}" type="presOf" srcId="{09AF864C-6FCD-42CE-8FE3-8F1F568299B4}" destId="{0A13DF15-BC7D-4B09-8052-CA94B397C079}" srcOrd="0" destOrd="0" presId="urn:microsoft.com/office/officeart/2016/7/layout/VerticalSolidActionList"/>
    <dgm:cxn modelId="{D9D0FF41-2B33-4B75-BF55-49000361E083}" type="presParOf" srcId="{E443650E-760F-4FC2-B972-4C48FF217DD9}" destId="{E60C9698-6358-4922-B687-929B2F6A0894}" srcOrd="0" destOrd="0" presId="urn:microsoft.com/office/officeart/2016/7/layout/VerticalSolidActionList"/>
    <dgm:cxn modelId="{410B8832-E9BC-4779-8DE1-79B1818131DD}" type="presParOf" srcId="{E60C9698-6358-4922-B687-929B2F6A0894}" destId="{7B705BAB-0384-455C-98C4-BE234B099092}" srcOrd="0" destOrd="0" presId="urn:microsoft.com/office/officeart/2016/7/layout/VerticalSolidActionList"/>
    <dgm:cxn modelId="{1E107C7C-C9EC-47E3-B4E5-6576BFB19A61}" type="presParOf" srcId="{E60C9698-6358-4922-B687-929B2F6A0894}" destId="{872C3B34-0867-4010-A6D0-5CA49C0CA2FC}" srcOrd="1" destOrd="0" presId="urn:microsoft.com/office/officeart/2016/7/layout/VerticalSolidActionList"/>
    <dgm:cxn modelId="{2C557682-FAB6-4BDB-B256-A9710EAF75BE}" type="presParOf" srcId="{E443650E-760F-4FC2-B972-4C48FF217DD9}" destId="{338EFC18-C125-4F36-A311-FDB07394A679}" srcOrd="1" destOrd="0" presId="urn:microsoft.com/office/officeart/2016/7/layout/VerticalSolidActionList"/>
    <dgm:cxn modelId="{795CA8F1-64BC-4E45-8A62-672205DF9F8F}" type="presParOf" srcId="{E443650E-760F-4FC2-B972-4C48FF217DD9}" destId="{D937A5DF-6C6D-4FC2-ACDF-266D21989877}" srcOrd="2" destOrd="0" presId="urn:microsoft.com/office/officeart/2016/7/layout/VerticalSolidActionList"/>
    <dgm:cxn modelId="{6BE1003F-FFD9-4B52-A1F3-53E868246685}" type="presParOf" srcId="{D937A5DF-6C6D-4FC2-ACDF-266D21989877}" destId="{166A0D3A-D1BA-468B-82D4-8C60AC4B7F8E}" srcOrd="0" destOrd="0" presId="urn:microsoft.com/office/officeart/2016/7/layout/VerticalSolidActionList"/>
    <dgm:cxn modelId="{092160AE-59C0-49D8-B26F-9A1F011D7D8D}" type="presParOf" srcId="{D937A5DF-6C6D-4FC2-ACDF-266D21989877}" destId="{0A13DF15-BC7D-4B09-8052-CA94B397C079}" srcOrd="1" destOrd="0" presId="urn:microsoft.com/office/officeart/2016/7/layout/VerticalSolidActionList"/>
    <dgm:cxn modelId="{509EDCFB-419D-4849-8C05-F25FE93B439F}" type="presParOf" srcId="{E443650E-760F-4FC2-B972-4C48FF217DD9}" destId="{16E0CCCA-C426-419B-9359-007C0D6F9A5C}" srcOrd="3" destOrd="0" presId="urn:microsoft.com/office/officeart/2016/7/layout/VerticalSolidActionList"/>
    <dgm:cxn modelId="{3B70562D-8F8B-418E-AD9A-F3E87F06D8D0}" type="presParOf" srcId="{E443650E-760F-4FC2-B972-4C48FF217DD9}" destId="{11C1EDD7-7424-41A5-A68F-69697AB64C16}" srcOrd="4" destOrd="0" presId="urn:microsoft.com/office/officeart/2016/7/layout/VerticalSolidActionList"/>
    <dgm:cxn modelId="{993B5F86-B537-4690-9AFA-3CCBCEE77E20}" type="presParOf" srcId="{11C1EDD7-7424-41A5-A68F-69697AB64C16}" destId="{FB1DC409-FDC5-43AD-B063-265474ED9798}" srcOrd="0" destOrd="0" presId="urn:microsoft.com/office/officeart/2016/7/layout/VerticalSolidActionList"/>
    <dgm:cxn modelId="{34F31DAB-E834-4009-BD70-78AF8B002F2C}" type="presParOf" srcId="{11C1EDD7-7424-41A5-A68F-69697AB64C16}" destId="{28221D8D-5C06-4920-8B31-D4C70A82C7E9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D9ADBB-36BD-4307-8B73-AFEE5CD0A374}">
      <dsp:nvSpPr>
        <dsp:cNvPr id="0" name=""/>
        <dsp:cNvSpPr/>
      </dsp:nvSpPr>
      <dsp:spPr>
        <a:xfrm>
          <a:off x="606456" y="0"/>
          <a:ext cx="5453920" cy="545392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11E182F-4650-4BF7-9FF4-431963A9080A}">
      <dsp:nvSpPr>
        <dsp:cNvPr id="0" name=""/>
        <dsp:cNvSpPr/>
      </dsp:nvSpPr>
      <dsp:spPr>
        <a:xfrm>
          <a:off x="1124578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Primary Call Driver:</a:t>
          </a:r>
          <a:r>
            <a:rPr lang="en-IN" sz="1800" kern="1200"/>
            <a:t> Billing Questions account for ~70% of total volume (23K+ calls). </a:t>
          </a:r>
          <a:endParaRPr lang="en-US" sz="1800" kern="1200"/>
        </a:p>
      </dsp:txBody>
      <dsp:txXfrm>
        <a:off x="1228411" y="621955"/>
        <a:ext cx="1919362" cy="1919362"/>
      </dsp:txXfrm>
    </dsp:sp>
    <dsp:sp modelId="{2912CBB3-3C63-41B6-BE85-B4B46F7135A7}">
      <dsp:nvSpPr>
        <dsp:cNvPr id="0" name=""/>
        <dsp:cNvSpPr/>
      </dsp:nvSpPr>
      <dsp:spPr>
        <a:xfrm>
          <a:off x="3415225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SLA Compliance:</a:t>
          </a:r>
          <a:r>
            <a:rPr lang="en-IN" sz="1800" kern="1200"/>
            <a:t> 20.6K calls resolved Within SLA, while 4.2K calls breached threshold (Above SLA). </a:t>
          </a:r>
          <a:endParaRPr lang="en-US" sz="1800" kern="1200"/>
        </a:p>
      </dsp:txBody>
      <dsp:txXfrm>
        <a:off x="3519058" y="621955"/>
        <a:ext cx="1919362" cy="1919362"/>
      </dsp:txXfrm>
    </dsp:sp>
    <dsp:sp modelId="{292C70B1-5CD3-4556-A919-A803C7D7B95B}">
      <dsp:nvSpPr>
        <dsp:cNvPr id="0" name=""/>
        <dsp:cNvSpPr/>
      </dsp:nvSpPr>
      <dsp:spPr>
        <a:xfrm>
          <a:off x="1124578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Channel Distribution:</a:t>
          </a:r>
          <a:r>
            <a:rPr lang="en-IN" sz="1800" kern="1200"/>
            <a:t> Call Center handles maximum volume (10.64K calls), followed by Chatbot and Email. </a:t>
          </a:r>
          <a:endParaRPr lang="en-US" sz="1800" kern="1200"/>
        </a:p>
      </dsp:txBody>
      <dsp:txXfrm>
        <a:off x="1228411" y="2912601"/>
        <a:ext cx="1919362" cy="1919362"/>
      </dsp:txXfrm>
    </dsp:sp>
    <dsp:sp modelId="{16BFEDB7-E769-4854-BBD8-2F176998C38D}">
      <dsp:nvSpPr>
        <dsp:cNvPr id="0" name=""/>
        <dsp:cNvSpPr/>
      </dsp:nvSpPr>
      <dsp:spPr>
        <a:xfrm>
          <a:off x="3415225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Geographic Distribution:</a:t>
          </a:r>
          <a:r>
            <a:rPr lang="en-IN" sz="1800" kern="1200"/>
            <a:t> Inquiries spread across 51 US states, led by California. </a:t>
          </a:r>
          <a:endParaRPr lang="en-US" sz="1800" kern="1200"/>
        </a:p>
      </dsp:txBody>
      <dsp:txXfrm>
        <a:off x="3519058" y="2912601"/>
        <a:ext cx="1919362" cy="19193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2C3B34-0867-4010-A6D0-5CA49C0CA2FC}">
      <dsp:nvSpPr>
        <dsp:cNvPr id="0" name=""/>
        <dsp:cNvSpPr/>
      </dsp:nvSpPr>
      <dsp:spPr>
        <a:xfrm>
          <a:off x="1036301" y="1163"/>
          <a:ext cx="4145206" cy="119234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29" tIns="302855" rIns="80429" bIns="30285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Automate Billing FAQs: Implement self-service features in Chatbot to handle simple billing queries and reduce agent workload.</a:t>
          </a:r>
        </a:p>
      </dsp:txBody>
      <dsp:txXfrm>
        <a:off x="1036301" y="1163"/>
        <a:ext cx="4145206" cy="1192343"/>
      </dsp:txXfrm>
    </dsp:sp>
    <dsp:sp modelId="{7B705BAB-0384-455C-98C4-BE234B099092}">
      <dsp:nvSpPr>
        <dsp:cNvPr id="0" name=""/>
        <dsp:cNvSpPr/>
      </dsp:nvSpPr>
      <dsp:spPr>
        <a:xfrm>
          <a:off x="0" y="1163"/>
          <a:ext cx="1036301" cy="11923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838" tIns="117777" rIns="54838" bIns="11777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Automate</a:t>
          </a:r>
        </a:p>
      </dsp:txBody>
      <dsp:txXfrm>
        <a:off x="0" y="1163"/>
        <a:ext cx="1036301" cy="1192343"/>
      </dsp:txXfrm>
    </dsp:sp>
    <dsp:sp modelId="{0A13DF15-BC7D-4B09-8052-CA94B397C079}">
      <dsp:nvSpPr>
        <dsp:cNvPr id="0" name=""/>
        <dsp:cNvSpPr/>
      </dsp:nvSpPr>
      <dsp:spPr>
        <a:xfrm>
          <a:off x="1036301" y="1265047"/>
          <a:ext cx="4145206" cy="1192343"/>
        </a:xfrm>
        <a:prstGeom prst="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29" tIns="302855" rIns="80429" bIns="30285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SLA Improvement: Allocate additional resources during peak call hours to minimize SLA breaches.</a:t>
          </a:r>
        </a:p>
      </dsp:txBody>
      <dsp:txXfrm>
        <a:off x="1036301" y="1265047"/>
        <a:ext cx="4145206" cy="1192343"/>
      </dsp:txXfrm>
    </dsp:sp>
    <dsp:sp modelId="{166A0D3A-D1BA-468B-82D4-8C60AC4B7F8E}">
      <dsp:nvSpPr>
        <dsp:cNvPr id="0" name=""/>
        <dsp:cNvSpPr/>
      </dsp:nvSpPr>
      <dsp:spPr>
        <a:xfrm>
          <a:off x="0" y="1265047"/>
          <a:ext cx="1036301" cy="1192343"/>
        </a:xfrm>
        <a:prstGeom prst="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838" tIns="117777" rIns="54838" bIns="11777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Allocate</a:t>
          </a:r>
        </a:p>
      </dsp:txBody>
      <dsp:txXfrm>
        <a:off x="0" y="1265047"/>
        <a:ext cx="1036301" cy="1192343"/>
      </dsp:txXfrm>
    </dsp:sp>
    <dsp:sp modelId="{28221D8D-5C06-4920-8B31-D4C70A82C7E9}">
      <dsp:nvSpPr>
        <dsp:cNvPr id="0" name=""/>
        <dsp:cNvSpPr/>
      </dsp:nvSpPr>
      <dsp:spPr>
        <a:xfrm>
          <a:off x="1036301" y="2528931"/>
          <a:ext cx="4145206" cy="1192343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29" tIns="302855" rIns="80429" bIns="30285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Channel Optimization: Encourage customers toward Chatbot and Web channels for faster issue resolution.</a:t>
          </a:r>
        </a:p>
      </dsp:txBody>
      <dsp:txXfrm>
        <a:off x="1036301" y="2528931"/>
        <a:ext cx="4145206" cy="1192343"/>
      </dsp:txXfrm>
    </dsp:sp>
    <dsp:sp modelId="{FB1DC409-FDC5-43AD-B063-265474ED9798}">
      <dsp:nvSpPr>
        <dsp:cNvPr id="0" name=""/>
        <dsp:cNvSpPr/>
      </dsp:nvSpPr>
      <dsp:spPr>
        <a:xfrm>
          <a:off x="0" y="2528931"/>
          <a:ext cx="1036301" cy="1192343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838" tIns="117777" rIns="54838" bIns="11777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Channel</a:t>
          </a:r>
        </a:p>
      </dsp:txBody>
      <dsp:txXfrm>
        <a:off x="0" y="2528931"/>
        <a:ext cx="1036301" cy="11923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18076-D859-6403-646D-B11DFE12F6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AAEBD-CB5A-971A-E985-0C1CFB02CA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5EC25-627E-67B2-19A9-6E9453EEE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8369-497E-4575-8682-6817F5ADFF2F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57178-91B1-7E31-34D7-EDF64B26E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5102C-6B0C-A115-7871-F602C10B1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F1DD6-9613-4D5F-B7CE-772E2D9E31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75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DAB9F-42E7-C254-51C0-A7CAEE0DE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6C48B-DB67-8EDC-7E78-E7FC3CDB8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27004-5A8C-18FA-0619-9CE6A74E8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8369-497E-4575-8682-6817F5ADFF2F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EB6F6-BBEA-5D46-4292-43424D20A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1025E-C49B-40E4-A6A5-5F0A74CFD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F1DD6-9613-4D5F-B7CE-772E2D9E31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219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875EA-6E7C-E08C-BC59-E02DA6D6A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99399-1DBE-1094-5837-869A608E3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32657-EA85-45C8-0C08-0B52E4E3D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8369-497E-4575-8682-6817F5ADFF2F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F19D6-CEE4-CB6F-8384-25590584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BECAE-7BD0-E522-67C0-203EF5FD9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F1DD6-9613-4D5F-B7CE-772E2D9E31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27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46A56-B3E6-19B3-A919-B98986C78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CE401-A508-9078-6818-357EB33887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0E8A0-1A03-2EC2-9390-F0E8ACF94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5FBF4-8080-6353-5A4B-B5BBC5A63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8369-497E-4575-8682-6817F5ADFF2F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3ABCA-7EAE-051C-EE4E-81939AA5F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772ED-7A18-F76A-8B12-3C061FF9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F1DD6-9613-4D5F-B7CE-772E2D9E31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699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2400-C4CC-0713-A8D0-713F9F9A4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85584-D7FC-43AC-6513-A3B1A2FBD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34F459-029D-DB54-29F5-E64200E48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46B963-491D-6DE1-9290-83F93A527C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B4EAC9-1CEF-965D-6BFB-60565B7947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EE5D73-1295-4FCF-9C7A-02460F02C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8369-497E-4575-8682-6817F5ADFF2F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340F5-2CDE-5E0C-8B8A-66540EDFB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E4707B-1493-C7D6-4E68-1E2D422CB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F1DD6-9613-4D5F-B7CE-772E2D9E31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187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447B0-5000-82F6-1F36-7B7874A4B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33213B-82E1-D8FD-477E-43341ADE4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8369-497E-4575-8682-6817F5ADFF2F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DB05C2-7DC8-871F-5F32-3427DDBA9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E8911-0942-0A2C-9F27-37F1179E4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F1DD6-9613-4D5F-B7CE-772E2D9E31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58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86B0D7-84F5-3877-DC50-5A1960B1E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8369-497E-4575-8682-6817F5ADFF2F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251E3E-3B2F-859B-85D9-D34D21F35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2869B-039A-6B87-10C3-75EE66A7B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F1DD6-9613-4D5F-B7CE-772E2D9E31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673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43AE7-C095-BFAF-CDA8-5B5877F01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F8C03-01CD-A2E0-4CBF-278C2BEEA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555504-73AD-7B4F-692D-0EDE53FA2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50739-3D08-A13C-CC6D-9275214C6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8369-497E-4575-8682-6817F5ADFF2F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EC84D-7442-55A6-F8EB-8D255B310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C5D65-8943-2346-438A-B65515E83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F1DD6-9613-4D5F-B7CE-772E2D9E31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564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EA2-0191-32D5-B0B9-63A035BA9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2640C-B926-7477-FDAC-AD320FC5C64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58D28-C3FC-2A15-4CD1-B1482E23F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F808A-B724-7A80-9B07-FDB3B18B6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8369-497E-4575-8682-6817F5ADFF2F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5E7FD-5677-29EF-0D23-4159B16C0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41157-E1E9-29AD-1F8F-E867B997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F1DD6-9613-4D5F-B7CE-772E2D9E31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051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2FDCA-AC22-E555-46BC-C1E21D8F5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A6B909-FD61-DCA2-DB55-641ACB761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DF843-AE11-9195-C357-B12BCE128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8369-497E-4575-8682-6817F5ADFF2F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E290E-C19B-B2C5-25D2-E2393BF9C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5A186-1A6B-E9DF-1DFA-558260A71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F1DD6-9613-4D5F-B7CE-772E2D9E31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192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3849FB-5D9E-6516-6B31-2A696A6B0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54299F-C8D7-074D-761E-9FF363A15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5738D-F67D-9E57-550E-52BDD551D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18369-497E-4575-8682-6817F5ADFF2F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4F1F6-2221-BDDC-D72E-FD6270433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16BB4-9868-48BA-C495-B385D55C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F1DD6-9613-4D5F-B7CE-772E2D9E31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340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72490E-1039-5F89-20B4-A65F7F269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410CE-400D-B09B-1535-104572C2F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5DFC6-8042-44F9-17E7-21A98D13F1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818369-497E-4575-8682-6817F5ADFF2F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28B4B-3ED4-3FE3-C97F-84DD91EF61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2D74E-052C-E64D-C7F9-A4A080C8C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F1DD6-9613-4D5F-B7CE-772E2D9E31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418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649B4333-1A50-85F1-26D6-834DA8FB6A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00"/>
          <a:stretch>
            <a:fillRect/>
          </a:stretch>
        </p:blipFill>
        <p:spPr>
          <a:xfrm>
            <a:off x="-3048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0772AA-8D86-DE83-86A9-EEE55348C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IN" sz="5200" b="1">
                <a:solidFill>
                  <a:srgbClr val="FFFFFF"/>
                </a:solidFill>
              </a:rPr>
              <a:t>CSAT Analytics Project (PRDA – 02)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059B24-675E-3852-4F9A-A19721611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625788"/>
            <a:ext cx="10058400" cy="102197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Customer Satisfaction &amp; Call Center Report</a:t>
            </a:r>
          </a:p>
          <a:p>
            <a:r>
              <a:rPr lang="en-IN" dirty="0">
                <a:solidFill>
                  <a:srgbClr val="FFFFFF"/>
                </a:solidFill>
              </a:rPr>
              <a:t>Presented by: Pooja Gupta</a:t>
            </a:r>
            <a:endParaRPr lang="en-IN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35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B97D869B-BD9D-3EC8-0BC1-3ABD47EE43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5" b="5901"/>
          <a:stretch>
            <a:fillRect/>
          </a:stretch>
        </p:blipFill>
        <p:spPr>
          <a:xfrm>
            <a:off x="20" y="0"/>
            <a:ext cx="12191980" cy="685799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2ACDE2F-695B-D389-8A1D-75FDFEDA236D}"/>
              </a:ext>
            </a:extLst>
          </p:cNvPr>
          <p:cNvSpPr txBox="1"/>
          <p:nvPr/>
        </p:nvSpPr>
        <p:spPr>
          <a:xfrm>
            <a:off x="4449154" y="16509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5011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D3D8BE-61A4-7C03-92AD-CD97642026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rtlCol="0"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Key Insights &amp; Findings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BE30787F-2B51-8683-2977-0C76CEE379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72557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4858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192C51-B764-4A9B-9587-5EF8B628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E770F-981D-E3F7-7C3E-191C2BF8A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557190"/>
            <a:ext cx="5181510" cy="1671569"/>
          </a:xfrm>
        </p:spPr>
        <p:txBody>
          <a:bodyPr>
            <a:normAutofit/>
          </a:bodyPr>
          <a:lstStyle/>
          <a:p>
            <a:r>
              <a:rPr lang="en-IN" sz="4000"/>
              <a:t>Recommendations &amp; Conclusion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39ACEF-AF51-0D1A-82D4-B67D0C2687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708" r="461"/>
          <a:stretch>
            <a:fillRect/>
          </a:stretch>
        </p:blipFill>
        <p:spPr>
          <a:xfrm>
            <a:off x="6189155" y="10"/>
            <a:ext cx="6002844" cy="6857990"/>
          </a:xfrm>
          <a:prstGeom prst="rect">
            <a:avLst/>
          </a:prstGeom>
          <a:effectLst/>
        </p:spPr>
      </p:pic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AAC54B82-8D1D-8FAE-2280-3F6604948B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303297"/>
              </p:ext>
            </p:extLst>
          </p:nvPr>
        </p:nvGraphicFramePr>
        <p:xfrm>
          <a:off x="648930" y="2406650"/>
          <a:ext cx="5181508" cy="3722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12093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147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CSAT Analytics Project (PRDA – 02)</vt:lpstr>
      <vt:lpstr>PowerPoint Presentation</vt:lpstr>
      <vt:lpstr>Key Insights &amp; Findings</vt:lpstr>
      <vt:lpstr>Recommendations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POOJA GUPTA</dc:creator>
  <cp:lastModifiedBy>POOJA GUPTA</cp:lastModifiedBy>
  <cp:revision>1</cp:revision>
  <dcterms:created xsi:type="dcterms:W3CDTF">2026-10-17T05:42:58Z</dcterms:created>
  <dcterms:modified xsi:type="dcterms:W3CDTF">2026-10-17T06:50:50Z</dcterms:modified>
</cp:coreProperties>
</file>